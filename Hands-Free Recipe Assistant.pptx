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01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[your name]. I built a recipe assistant you control with hand gestures, using computer vision. Four minutes: the problem, how it works, a live demo, and how AI helped me build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who cooks has touched a phone with dough on their fingers. The target user is the home cook, and especially beginners following a recipe step by step.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vision means teaching a computer to understand what a camera sees. My app uses the laptop webcam to find a hand, recognize the gesture, and move through the recipe without touching anything.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webcam feeds OpenCV. MediaPipe finds the hand and classifies the gesture, and a second model checks where my face is pointing. My Python app decides what to do, then speaks the step and sends it over USB to an Arduino with an LCD and buzzer. Everything is free and runs on my laptop.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poses recognized by MediaPipe's gesture model, plus a swipe I built myself by tracking how fast the palm moves sideways. A short hold time stops accidental triggers.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safety feature. The face landmark model measures head yaw and pitch. If I'm not facing the camera, swipes are ignored and the screen warns 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robotics and AI major, I wanted the vision system to drive real hardware. Parts from my Arduino kit: an LCD1602, a buzzer, and a potentiometer. No money spent.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now. Run: python recipe_final_v4.py recipe_demo.json. Show: ingredients screen, thumbs up to next, a swipe while looking at the camera, a swipe while looking away (warning), the timer, and the LCD. Backup: play the demo video.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I used Claude as a tutor and coding assistant. I typed the code myself, tested it on my own laptop, and debugged it. MediaPipe by Google provides the pretrained hand and face models. Everything else is open source. Edit this table if you used any other AI tools.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answer questions about the gestures, the safety check, or the Arduino setup. The repo link is on screen.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A0C1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F4F6FF"/>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1041"/>
            <a:ext cx="10566400" cy="4074159"/>
          </a:xfrm>
          <a:prstGeom prst="rect">
            <a:avLst/>
          </a:prstGeom>
          <a:noFill/>
          <a:ln/>
        </p:spPr>
        <p:txBody>
          <a:bodyPr wrap="square" lIns="0" tIns="0" rIns="0" bIns="0" rtlCol="0" anchor="t"/>
          <a:lstStyle>
            <a:lvl1pPr marL="0" indent="0" algn="l">
              <a:lnSpc>
                <a:spcPct val="140000"/>
              </a:lnSpc>
              <a:buNone/>
              <a:defRPr lang="en-US" sz="1600" dirty="0">
                <a:solidFill>
                  <a:srgbClr val="F4F6FF"/>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C1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F4F6FF"/>
                </a:solidFill>
                <a:latin typeface="Rubik" pitchFamily="34" charset="0"/>
                <a:ea typeface="Rubik" pitchFamily="34" charset="-122"/>
                <a:cs typeface="Rubi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1041"/>
            <a:ext cx="10566400" cy="4074159"/>
          </a:xfrm>
          <a:prstGeom prst="rect">
            <a:avLst/>
          </a:prstGeom>
          <a:noFill/>
          <a:ln/>
        </p:spPr>
        <p:txBody>
          <a:bodyPr wrap="square" lIns="0" tIns="0" rIns="0" bIns="0" rtlCol="0" anchor="t"/>
          <a:lstStyle>
            <a:lvl1pPr marL="0" indent="0" algn="l">
              <a:lnSpc>
                <a:spcPct val="140000"/>
              </a:lnSpc>
              <a:buNone/>
              <a:defRPr lang="en-US" sz="1600" dirty="0">
                <a:solidFill>
                  <a:srgbClr val="F4F6FF"/>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185166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200" dirty="0">
                <a:solidFill>
                  <a:srgbClr val="2DE2FF"/>
                </a:solidFill>
                <a:latin typeface="Nunito Sans" pitchFamily="34" charset="0"/>
                <a:ea typeface="Nunito Sans" pitchFamily="34" charset="-122"/>
                <a:cs typeface="Nunito Sans" pitchFamily="34" charset="-120"/>
              </a:rPr>
              <a:t>UAT AI HACKATHON · COMPUTER VISION</a:t>
            </a:r>
            <a:endParaRPr lang="en-US" sz="1500" dirty="0"/>
          </a:p>
        </p:txBody>
      </p:sp>
      <p:sp>
        <p:nvSpPr>
          <p:cNvPr id="3" name="Text 1"/>
          <p:cNvSpPr>
            <a:spLocks noGrp="1"/>
          </p:cNvSpPr>
          <p:nvPr>
            <p:ph type="title"/>
          </p:nvPr>
        </p:nvSpPr>
        <p:spPr>
          <a:xfrm>
            <a:off x="812800" y="2372360"/>
            <a:ext cx="10883392" cy="1838960"/>
          </a:xfrm>
          <a:prstGeom prst="rect">
            <a:avLst/>
          </a:prstGeom>
          <a:noFill/>
          <a:ln/>
        </p:spPr>
        <p:txBody>
          <a:bodyPr wrap="square" lIns="0" tIns="0" rIns="0" bIns="0" rtlCol="0" anchor="t">
            <a:normAutofit/>
          </a:bodyPr>
          <a:lstStyle/>
          <a:p>
            <a:pPr marL="0" indent="0" algn="l">
              <a:lnSpc>
                <a:spcPts val="7140"/>
              </a:lnSpc>
              <a:buNone/>
            </a:pPr>
            <a:r>
              <a:rPr lang="en-US" sz="6800" b="1" i="0" dirty="0">
                <a:gradFill rotWithShape="1">
                  <a:gsLst>
                    <a:gs pos="0">
                      <a:srgbClr val="2DE2FF"/>
                    </a:gs>
                    <a:gs pos="50000">
                      <a:srgbClr val="8A4DFF"/>
                    </a:gs>
                    <a:gs pos="100000">
                      <a:srgbClr val="D14DFF"/>
                    </a:gs>
                  </a:gsLst>
                  <a:lin ang="0" scaled="0"/>
                </a:gradFill>
                <a:latin typeface="Rubik" pitchFamily="34" charset="0"/>
                <a:ea typeface="Rubik" pitchFamily="34" charset="-122"/>
                <a:cs typeface="Rubik" pitchFamily="34" charset="-120"/>
              </a:rPr>
              <a:t>Hands-Free</a:t>
            </a:r>
            <a:endParaRPr lang="en-US" sz="6800" dirty="0"/>
          </a:p>
          <a:p>
            <a:pPr marL="0" indent="0" algn="l">
              <a:lnSpc>
                <a:spcPts val="7140"/>
              </a:lnSpc>
              <a:buNone/>
            </a:pPr>
            <a:r>
              <a:rPr lang="en-US" sz="6800" b="1" i="0" dirty="0">
                <a:gradFill rotWithShape="1">
                  <a:gsLst>
                    <a:gs pos="0">
                      <a:srgbClr val="2DE2FF"/>
                    </a:gs>
                    <a:gs pos="50000">
                      <a:srgbClr val="8A4DFF"/>
                    </a:gs>
                    <a:gs pos="100000">
                      <a:srgbClr val="D14DFF"/>
                    </a:gs>
                  </a:gsLst>
                  <a:lin ang="0" scaled="0"/>
                </a:gradFill>
                <a:latin typeface="Rubik" pitchFamily="34" charset="0"/>
                <a:ea typeface="Rubik" pitchFamily="34" charset="-122"/>
                <a:cs typeface="Rubik" pitchFamily="34" charset="-120"/>
              </a:rPr>
              <a:t>Recipe Assistant</a:t>
            </a:r>
            <a:endParaRPr lang="en-US" sz="6800" dirty="0"/>
          </a:p>
        </p:txBody>
      </p:sp>
      <p:sp>
        <p:nvSpPr>
          <p:cNvPr id="4" name="Text 2"/>
          <p:cNvSpPr/>
          <p:nvPr/>
        </p:nvSpPr>
        <p:spPr>
          <a:xfrm>
            <a:off x="812800" y="4439920"/>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t>No more mess, with easy tech</a:t>
            </a:r>
          </a:p>
        </p:txBody>
      </p:sp>
      <p:sp>
        <p:nvSpPr>
          <p:cNvPr id="5" name="Text 3"/>
          <p:cNvSpPr/>
          <p:nvPr/>
        </p:nvSpPr>
        <p:spPr>
          <a:xfrm>
            <a:off x="812800" y="62026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2E0"/>
                </a:solidFill>
                <a:latin typeface="Nunito Sans" pitchFamily="34" charset="0"/>
                <a:ea typeface="Nunito Sans" pitchFamily="34" charset="-122"/>
                <a:cs typeface="Nunito Sans" pitchFamily="34" charset="-120"/>
              </a:rPr>
              <a:t>Isabela Teck October 11, 2026</a:t>
            </a:r>
            <a:endParaRPr lang="en-US" sz="1400" dirty="0"/>
          </a:p>
        </p:txBody>
      </p:sp>
      <p:pic>
        <p:nvPicPr>
          <p:cNvPr id="7" name="Picture 6">
            <a:extLst>
              <a:ext uri="{FF2B5EF4-FFF2-40B4-BE49-F238E27FC236}">
                <a16:creationId xmlns:a16="http://schemas.microsoft.com/office/drawing/2014/main" id="{AB9BB745-0DF4-F7F8-D9C9-453C0D439A8F}"/>
              </a:ext>
            </a:extLst>
          </p:cNvPr>
          <p:cNvPicPr>
            <a:picLocks noChangeAspect="1"/>
          </p:cNvPicPr>
          <p:nvPr/>
        </p:nvPicPr>
        <p:blipFill>
          <a:blip r:embed="rId3"/>
          <a:srcRect/>
          <a:stretch>
            <a:fillRect/>
          </a:stretch>
        </p:blipFill>
        <p:spPr>
          <a:xfrm rot="7135832" flipH="1" flipV="1">
            <a:off x="6051827" y="2059364"/>
            <a:ext cx="3877445" cy="51497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DE2FF"/>
                </a:solidFill>
                <a:latin typeface="Nunito Sans" pitchFamily="34" charset="0"/>
                <a:ea typeface="Nunito Sans" pitchFamily="34" charset="-122"/>
                <a:cs typeface="Nunito Sans" pitchFamily="34" charset="-120"/>
              </a:rPr>
              <a:t>THE PROBLEM</a:t>
            </a:r>
            <a:endParaRPr lang="en-US" sz="1400" dirty="0"/>
          </a:p>
        </p:txBody>
      </p:sp>
      <p:sp>
        <p:nvSpPr>
          <p:cNvPr id="3" name="Text 1"/>
          <p:cNvSpPr>
            <a:spLocks noGrp="1"/>
          </p:cNvSpPr>
          <p:nvPr>
            <p:ph type="title"/>
          </p:nvPr>
        </p:nvSpPr>
        <p:spPr>
          <a:xfrm>
            <a:off x="812800" y="1163320"/>
            <a:ext cx="10883392" cy="528320"/>
          </a:xfrm>
          <a:prstGeom prst="rect">
            <a:avLst/>
          </a:prstGeom>
          <a:noFill/>
          <a:ln/>
        </p:spPr>
        <p:txBody>
          <a:bodyPr wrap="square" lIns="0" tIns="0" rIns="0" bIns="0" rtlCol="0" anchor="t">
            <a:normAutofit fontScale="90000"/>
          </a:bodyPr>
          <a:lstStyle/>
          <a:p>
            <a:pPr marL="0" indent="0" algn="l">
              <a:lnSpc>
                <a:spcPts val="3960"/>
              </a:lnSpc>
              <a:buNone/>
            </a:pPr>
            <a:r>
              <a:rPr lang="en-US" sz="3600" b="1" i="0" dirty="0">
                <a:solidFill>
                  <a:srgbClr val="F4F6FF"/>
                </a:solidFill>
                <a:latin typeface="Rubik" pitchFamily="34" charset="0"/>
                <a:ea typeface="Rubik" pitchFamily="34" charset="-122"/>
                <a:cs typeface="Rubik" pitchFamily="34" charset="-120"/>
              </a:rPr>
              <a:t>Cooking leaves your hands busy and sometime messy</a:t>
            </a:r>
            <a:endParaRPr lang="en-US" sz="3600" dirty="0"/>
          </a:p>
        </p:txBody>
      </p:sp>
      <p:sp>
        <p:nvSpPr>
          <p:cNvPr id="4" name="Shape 2"/>
          <p:cNvSpPr/>
          <p:nvPr/>
        </p:nvSpPr>
        <p:spPr>
          <a:xfrm>
            <a:off x="812700" y="2289914"/>
            <a:ext cx="3373914" cy="1551940"/>
          </a:xfrm>
          <a:prstGeom prst="roundRect">
            <a:avLst>
              <a:gd name="adj" fmla="val 7774"/>
            </a:avLst>
          </a:prstGeom>
          <a:solidFill>
            <a:srgbClr val="7030A0"/>
          </a:solidFill>
          <a:ln w="12700">
            <a:solidFill>
              <a:srgbClr val="7030A0"/>
            </a:solidFill>
            <a:prstDash val="solid"/>
          </a:ln>
        </p:spPr>
        <p:txBody>
          <a:bodyPr/>
          <a:lstStyle/>
          <a:p>
            <a:endParaRPr lang="en-US" dirty="0">
              <a:ln>
                <a:solidFill>
                  <a:srgbClr val="00B0F0"/>
                </a:solidFill>
              </a:ln>
              <a:solidFill>
                <a:srgbClr val="00B0F0"/>
              </a:solidFill>
            </a:endParaRPr>
          </a:p>
        </p:txBody>
      </p:sp>
      <p:sp>
        <p:nvSpPr>
          <p:cNvPr id="5" name="Text 3"/>
          <p:cNvSpPr/>
          <p:nvPr/>
        </p:nvSpPr>
        <p:spPr>
          <a:xfrm>
            <a:off x="1102360" y="2311400"/>
            <a:ext cx="289171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F"/>
                </a:solidFill>
                <a:latin typeface="Rubik" pitchFamily="34" charset="0"/>
                <a:ea typeface="Rubik" pitchFamily="34" charset="-122"/>
                <a:cs typeface="Rubik" pitchFamily="34" charset="-120"/>
              </a:rPr>
              <a:t>Sticky hands</a:t>
            </a:r>
            <a:endParaRPr lang="en-US" sz="2200" dirty="0"/>
          </a:p>
        </p:txBody>
      </p:sp>
      <p:sp>
        <p:nvSpPr>
          <p:cNvPr id="6" name="Text 4"/>
          <p:cNvSpPr/>
          <p:nvPr/>
        </p:nvSpPr>
        <p:spPr>
          <a:xfrm>
            <a:off x="1102360" y="2748280"/>
            <a:ext cx="2891719" cy="57404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B8C2E0"/>
                </a:solidFill>
                <a:latin typeface="Nunito Sans" pitchFamily="34" charset="0"/>
                <a:ea typeface="Nunito Sans" pitchFamily="34" charset="-122"/>
                <a:cs typeface="Nunito Sans" pitchFamily="34" charset="-120"/>
              </a:rPr>
              <a:t>Dough, sauces, flour, oils and sticky intergradient.</a:t>
            </a:r>
            <a:endParaRPr lang="en-US" sz="1600" dirty="0"/>
          </a:p>
        </p:txBody>
      </p:sp>
      <p:sp>
        <p:nvSpPr>
          <p:cNvPr id="7" name="Shape 5"/>
          <p:cNvSpPr/>
          <p:nvPr/>
        </p:nvSpPr>
        <p:spPr>
          <a:xfrm>
            <a:off x="4425881" y="2289914"/>
            <a:ext cx="3373993" cy="1551940"/>
          </a:xfrm>
          <a:prstGeom prst="roundRect">
            <a:avLst>
              <a:gd name="adj" fmla="val 7774"/>
            </a:avLst>
          </a:prstGeom>
          <a:solidFill>
            <a:srgbClr val="141A2E"/>
          </a:solidFill>
          <a:ln w="12700">
            <a:solidFill>
              <a:srgbClr val="7030A0"/>
            </a:solidFill>
            <a:prstDash val="solid"/>
          </a:ln>
        </p:spPr>
        <p:txBody>
          <a:bodyPr/>
          <a:lstStyle/>
          <a:p>
            <a:endParaRPr lang="en-US"/>
          </a:p>
        </p:txBody>
      </p:sp>
      <p:sp>
        <p:nvSpPr>
          <p:cNvPr id="8" name="Text 6"/>
          <p:cNvSpPr/>
          <p:nvPr/>
        </p:nvSpPr>
        <p:spPr>
          <a:xfrm>
            <a:off x="4692174" y="2311400"/>
            <a:ext cx="289180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F"/>
                </a:solidFill>
                <a:latin typeface="Rubik" pitchFamily="34" charset="0"/>
                <a:ea typeface="Rubik" pitchFamily="34" charset="-122"/>
                <a:cs typeface="Rubik" pitchFamily="34" charset="-120"/>
              </a:rPr>
              <a:t>Dirty screens</a:t>
            </a:r>
            <a:endParaRPr lang="en-US" sz="2200" dirty="0"/>
          </a:p>
        </p:txBody>
      </p:sp>
      <p:sp>
        <p:nvSpPr>
          <p:cNvPr id="9" name="Text 7"/>
          <p:cNvSpPr/>
          <p:nvPr/>
        </p:nvSpPr>
        <p:spPr>
          <a:xfrm>
            <a:off x="4692174" y="2748280"/>
            <a:ext cx="2891800" cy="574040"/>
          </a:xfrm>
          <a:prstGeom prst="rect">
            <a:avLst/>
          </a:prstGeom>
          <a:noFill/>
          <a:ln/>
        </p:spPr>
        <p:txBody>
          <a:bodyPr wrap="square" lIns="0" tIns="0" rIns="0" bIns="0" rtlCol="0" anchor="t">
            <a:normAutofit fontScale="85000" lnSpcReduction="10000"/>
          </a:bodyPr>
          <a:lstStyle/>
          <a:p>
            <a:pPr marL="0" indent="0" algn="l">
              <a:lnSpc>
                <a:spcPts val="2160"/>
              </a:lnSpc>
              <a:buNone/>
            </a:pPr>
            <a:r>
              <a:rPr lang="en-US" sz="1600" dirty="0">
                <a:solidFill>
                  <a:srgbClr val="B8C2E0"/>
                </a:solidFill>
                <a:latin typeface="Nunito Sans" pitchFamily="34" charset="0"/>
              </a:rPr>
              <a:t>With dirty screen on device can be hard to clean and hard the device</a:t>
            </a:r>
            <a:endParaRPr lang="en-US" sz="1600" dirty="0"/>
          </a:p>
        </p:txBody>
      </p:sp>
      <p:sp>
        <p:nvSpPr>
          <p:cNvPr id="10" name="Shape 8"/>
          <p:cNvSpPr/>
          <p:nvPr/>
        </p:nvSpPr>
        <p:spPr>
          <a:xfrm>
            <a:off x="7972750" y="2289914"/>
            <a:ext cx="3373993" cy="1551940"/>
          </a:xfrm>
          <a:prstGeom prst="roundRect">
            <a:avLst>
              <a:gd name="adj" fmla="val 7774"/>
            </a:avLst>
          </a:prstGeom>
          <a:solidFill>
            <a:srgbClr val="00B0F0"/>
          </a:solidFill>
          <a:ln w="12700">
            <a:solidFill>
              <a:srgbClr val="7030A0"/>
            </a:solidFill>
            <a:prstDash val="solid"/>
          </a:ln>
        </p:spPr>
        <p:txBody>
          <a:bodyPr/>
          <a:lstStyle/>
          <a:p>
            <a:endParaRPr lang="en-US"/>
          </a:p>
        </p:txBody>
      </p:sp>
      <p:sp>
        <p:nvSpPr>
          <p:cNvPr id="11" name="Text 9"/>
          <p:cNvSpPr/>
          <p:nvPr/>
        </p:nvSpPr>
        <p:spPr>
          <a:xfrm>
            <a:off x="8282067" y="2387598"/>
            <a:ext cx="289180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F"/>
                </a:solidFill>
                <a:latin typeface="Rubik" pitchFamily="34" charset="0"/>
                <a:ea typeface="Rubik" pitchFamily="34" charset="-122"/>
                <a:cs typeface="Rubik" pitchFamily="34" charset="-120"/>
              </a:rPr>
              <a:t>Lost place</a:t>
            </a:r>
            <a:endParaRPr lang="en-US" sz="2200" dirty="0"/>
          </a:p>
        </p:txBody>
      </p:sp>
      <p:sp>
        <p:nvSpPr>
          <p:cNvPr id="12" name="Text 10"/>
          <p:cNvSpPr/>
          <p:nvPr/>
        </p:nvSpPr>
        <p:spPr>
          <a:xfrm>
            <a:off x="8282067" y="2748280"/>
            <a:ext cx="2891800" cy="57404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B8C2E0"/>
                </a:solidFill>
                <a:latin typeface="Nunito Sans" pitchFamily="34" charset="0"/>
                <a:ea typeface="Nunito Sans" pitchFamily="34" charset="-122"/>
                <a:cs typeface="Nunito Sans" pitchFamily="34" charset="-120"/>
              </a:rPr>
              <a:t>You scroll back and forth to find the right step.</a:t>
            </a:r>
            <a:endParaRPr lang="en-US" sz="1600" dirty="0"/>
          </a:p>
        </p:txBody>
      </p:sp>
      <p:sp>
        <p:nvSpPr>
          <p:cNvPr id="13" name="Text 11"/>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pic>
        <p:nvPicPr>
          <p:cNvPr id="15" name="Picture 14">
            <a:extLst>
              <a:ext uri="{FF2B5EF4-FFF2-40B4-BE49-F238E27FC236}">
                <a16:creationId xmlns:a16="http://schemas.microsoft.com/office/drawing/2014/main" id="{4F0E227B-7844-4201-42BB-AAD50802D3EE}"/>
              </a:ext>
            </a:extLst>
          </p:cNvPr>
          <p:cNvPicPr>
            <a:picLocks noChangeAspect="1"/>
          </p:cNvPicPr>
          <p:nvPr/>
        </p:nvPicPr>
        <p:blipFill>
          <a:blip r:embed="rId3"/>
          <a:srcRect/>
          <a:stretch>
            <a:fillRect/>
          </a:stretch>
        </p:blipFill>
        <p:spPr>
          <a:xfrm rot="16436772">
            <a:off x="2992610" y="2096012"/>
            <a:ext cx="1016605" cy="1304533"/>
          </a:xfrm>
          <a:prstGeom prst="rect">
            <a:avLst/>
          </a:prstGeom>
        </p:spPr>
      </p:pic>
      <p:pic>
        <p:nvPicPr>
          <p:cNvPr id="17" name="Picture 16">
            <a:extLst>
              <a:ext uri="{FF2B5EF4-FFF2-40B4-BE49-F238E27FC236}">
                <a16:creationId xmlns:a16="http://schemas.microsoft.com/office/drawing/2014/main" id="{EF5D666E-F8E9-5EF6-4836-B44467CFC86C}"/>
              </a:ext>
            </a:extLst>
          </p:cNvPr>
          <p:cNvPicPr>
            <a:picLocks noChangeAspect="1"/>
          </p:cNvPicPr>
          <p:nvPr/>
        </p:nvPicPr>
        <p:blipFill>
          <a:blip r:embed="rId4"/>
          <a:stretch>
            <a:fillRect/>
          </a:stretch>
        </p:blipFill>
        <p:spPr>
          <a:xfrm>
            <a:off x="6262387" y="1399203"/>
            <a:ext cx="2094716" cy="19308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DE2FF"/>
                </a:solidFill>
                <a:latin typeface="Nunito Sans" pitchFamily="34" charset="0"/>
                <a:ea typeface="Nunito Sans" pitchFamily="34" charset="-122"/>
                <a:cs typeface="Nunito Sans" pitchFamily="34" charset="-120"/>
              </a:rPr>
              <a:t>OUR SOLUTION</a:t>
            </a:r>
            <a:endParaRPr lang="en-US" sz="1400" dirty="0"/>
          </a:p>
        </p:txBody>
      </p:sp>
      <p:sp>
        <p:nvSpPr>
          <p:cNvPr id="3" name="Text 1"/>
          <p:cNvSpPr>
            <a:spLocks noGrp="1"/>
          </p:cNvSpPr>
          <p:nvPr>
            <p:ph type="title"/>
          </p:nvPr>
        </p:nvSpPr>
        <p:spPr>
          <a:xfrm>
            <a:off x="812800" y="1163320"/>
            <a:ext cx="10883392" cy="1254760"/>
          </a:xfrm>
          <a:prstGeom prst="rect">
            <a:avLst/>
          </a:prstGeom>
          <a:noFill/>
          <a:ln/>
        </p:spPr>
        <p:txBody>
          <a:bodyPr wrap="square" lIns="0" tIns="0" rIns="0" bIns="0" rtlCol="0" anchor="t">
            <a:normAutofit fontScale="90000"/>
          </a:bodyPr>
          <a:lstStyle/>
          <a:p>
            <a:pPr marL="0" indent="0" algn="l">
              <a:lnSpc>
                <a:spcPts val="4840"/>
              </a:lnSpc>
              <a:buNone/>
            </a:pPr>
            <a:r>
              <a:rPr lang="en-US" sz="4400" dirty="0"/>
              <a:t>With video or web camera, we can make recipe be less a mess with reading it out loud to you</a:t>
            </a:r>
          </a:p>
        </p:txBody>
      </p:sp>
      <p:sp>
        <p:nvSpPr>
          <p:cNvPr id="4" name="Text 2"/>
          <p:cNvSpPr/>
          <p:nvPr/>
        </p:nvSpPr>
        <p:spPr>
          <a:xfrm>
            <a:off x="812800" y="4556125"/>
            <a:ext cx="523240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DE2FF"/>
                </a:solidFill>
                <a:latin typeface="Rubik" pitchFamily="34" charset="0"/>
                <a:ea typeface="Rubik" pitchFamily="34" charset="-122"/>
                <a:cs typeface="Rubik" pitchFamily="34" charset="-120"/>
              </a:rPr>
              <a:t>The theme: computer vision</a:t>
            </a:r>
            <a:endParaRPr lang="en-US" sz="2200" dirty="0"/>
          </a:p>
        </p:txBody>
      </p:sp>
      <p:sp>
        <p:nvSpPr>
          <p:cNvPr id="5" name="Text 3"/>
          <p:cNvSpPr/>
          <p:nvPr/>
        </p:nvSpPr>
        <p:spPr>
          <a:xfrm>
            <a:off x="812800" y="4967605"/>
            <a:ext cx="5232400"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B8C2E0"/>
                </a:solidFill>
                <a:latin typeface="Nunito Sans" pitchFamily="34" charset="0"/>
                <a:ea typeface="Nunito Sans" pitchFamily="34" charset="-122"/>
                <a:cs typeface="Nunito Sans" pitchFamily="34" charset="-120"/>
              </a:rPr>
              <a:t>Computers that understand images. Here the camera finds your hand and face, then reads your gesture.</a:t>
            </a:r>
            <a:endParaRPr lang="en-US" sz="1700" dirty="0"/>
          </a:p>
        </p:txBody>
      </p:sp>
      <p:sp>
        <p:nvSpPr>
          <p:cNvPr id="6" name="Text 4"/>
          <p:cNvSpPr/>
          <p:nvPr/>
        </p:nvSpPr>
        <p:spPr>
          <a:xfrm>
            <a:off x="6299200" y="4556125"/>
            <a:ext cx="523240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DE2FF"/>
                </a:solidFill>
                <a:latin typeface="Rubik" pitchFamily="34" charset="0"/>
                <a:ea typeface="Rubik" pitchFamily="34" charset="-122"/>
                <a:cs typeface="Rubik" pitchFamily="34" charset="-120"/>
              </a:rPr>
              <a:t>The result</a:t>
            </a:r>
            <a:endParaRPr lang="en-US" sz="2200" dirty="0"/>
          </a:p>
        </p:txBody>
      </p:sp>
      <p:sp>
        <p:nvSpPr>
          <p:cNvPr id="7" name="Text 5"/>
          <p:cNvSpPr/>
          <p:nvPr/>
        </p:nvSpPr>
        <p:spPr>
          <a:xfrm>
            <a:off x="6299200" y="4967605"/>
            <a:ext cx="5232400" cy="60833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B8C2E0"/>
                </a:solidFill>
                <a:latin typeface="Nunito Sans" pitchFamily="34" charset="0"/>
                <a:ea typeface="Nunito Sans" pitchFamily="34" charset="-122"/>
                <a:cs typeface="Nunito Sans" pitchFamily="34" charset="-120"/>
              </a:rPr>
              <a:t>No touching. The app reads each step aloud, shows it on screen, and runs timers.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DE2FF"/>
                </a:solidFill>
                <a:latin typeface="Nunito Sans" pitchFamily="34" charset="0"/>
                <a:ea typeface="Nunito Sans" pitchFamily="34" charset="-122"/>
                <a:cs typeface="Nunito Sans" pitchFamily="34" charset="-120"/>
              </a:rPr>
              <a:t>HOW IT WORKS</a:t>
            </a:r>
            <a:endParaRPr lang="en-US" sz="1400" dirty="0"/>
          </a:p>
        </p:txBody>
      </p:sp>
      <p:sp>
        <p:nvSpPr>
          <p:cNvPr id="3" name="Text 1"/>
          <p:cNvSpPr>
            <a:spLocks noGrp="1"/>
          </p:cNvSpPr>
          <p:nvPr>
            <p:ph type="title"/>
          </p:nvPr>
        </p:nvSpPr>
        <p:spPr>
          <a:xfrm>
            <a:off x="812800" y="11633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F"/>
                </a:solidFill>
                <a:latin typeface="Rubik" pitchFamily="34" charset="0"/>
                <a:ea typeface="Rubik" pitchFamily="34" charset="-122"/>
                <a:cs typeface="Rubik" pitchFamily="34" charset="-120"/>
              </a:rPr>
              <a:t>From camera to kitchen in four steps</a:t>
            </a:r>
            <a:endParaRPr lang="en-US" sz="3600" dirty="0"/>
          </a:p>
        </p:txBody>
      </p:sp>
      <p:sp>
        <p:nvSpPr>
          <p:cNvPr id="4" name="Shape 2"/>
          <p:cNvSpPr/>
          <p:nvPr/>
        </p:nvSpPr>
        <p:spPr>
          <a:xfrm>
            <a:off x="812800" y="2340611"/>
            <a:ext cx="2095500" cy="1625600"/>
          </a:xfrm>
          <a:prstGeom prst="roundRect">
            <a:avLst>
              <a:gd name="adj" fmla="val 7813"/>
            </a:avLst>
          </a:prstGeom>
          <a:solidFill>
            <a:srgbClr val="141A2E"/>
          </a:solidFill>
          <a:ln/>
        </p:spPr>
        <p:txBody>
          <a:bodyPr/>
          <a:lstStyle/>
          <a:p>
            <a:endParaRPr lang="en-US"/>
          </a:p>
        </p:txBody>
      </p:sp>
      <p:sp>
        <p:nvSpPr>
          <p:cNvPr id="5" name="Text 3"/>
          <p:cNvSpPr/>
          <p:nvPr/>
        </p:nvSpPr>
        <p:spPr>
          <a:xfrm>
            <a:off x="1041400" y="2569211"/>
            <a:ext cx="16891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DE2FF"/>
                </a:solidFill>
                <a:latin typeface="Nunito Sans" pitchFamily="34" charset="0"/>
                <a:ea typeface="Nunito Sans" pitchFamily="34" charset="-122"/>
                <a:cs typeface="Nunito Sans" pitchFamily="34" charset="-120"/>
              </a:rPr>
              <a:t>1 · See</a:t>
            </a:r>
            <a:endParaRPr lang="en-US" sz="1400" dirty="0"/>
          </a:p>
        </p:txBody>
      </p:sp>
      <p:sp>
        <p:nvSpPr>
          <p:cNvPr id="6" name="Text 4"/>
          <p:cNvSpPr/>
          <p:nvPr/>
        </p:nvSpPr>
        <p:spPr>
          <a:xfrm>
            <a:off x="1041400" y="2894330"/>
            <a:ext cx="16891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F"/>
                </a:solidFill>
                <a:latin typeface="Rubik" pitchFamily="34" charset="0"/>
                <a:ea typeface="Rubik" pitchFamily="34" charset="-122"/>
                <a:cs typeface="Rubik" pitchFamily="34" charset="-120"/>
              </a:rPr>
              <a:t>Webcam</a:t>
            </a:r>
            <a:endParaRPr lang="en-US" sz="2000" dirty="0"/>
          </a:p>
        </p:txBody>
      </p:sp>
      <p:sp>
        <p:nvSpPr>
          <p:cNvPr id="7" name="Text 5"/>
          <p:cNvSpPr/>
          <p:nvPr/>
        </p:nvSpPr>
        <p:spPr>
          <a:xfrm>
            <a:off x="1041400" y="3275330"/>
            <a:ext cx="1689100"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8C2E0"/>
                </a:solidFill>
                <a:latin typeface="Nunito Sans" pitchFamily="34" charset="0"/>
                <a:ea typeface="Nunito Sans" pitchFamily="34" charset="-122"/>
                <a:cs typeface="Nunito Sans" pitchFamily="34" charset="-120"/>
              </a:rPr>
              <a:t>OpenCV grabs live video</a:t>
            </a:r>
            <a:endParaRPr lang="en-US" sz="1400" dirty="0"/>
          </a:p>
        </p:txBody>
      </p:sp>
      <p:pic>
        <p:nvPicPr>
          <p:cNvPr id="8" name="Image 0" descr="arrow-right"/>
          <p:cNvPicPr>
            <a:picLocks noChangeAspect="1"/>
          </p:cNvPicPr>
          <p:nvPr/>
        </p:nvPicPr>
        <p:blipFill>
          <a:blip r:embed="rId3"/>
          <a:srcRect/>
          <a:stretch/>
        </p:blipFill>
        <p:spPr>
          <a:xfrm>
            <a:off x="3060700" y="3039111"/>
            <a:ext cx="381000" cy="228600"/>
          </a:xfrm>
          <a:prstGeom prst="rect">
            <a:avLst/>
          </a:prstGeom>
        </p:spPr>
      </p:pic>
      <p:sp>
        <p:nvSpPr>
          <p:cNvPr id="9" name="Shape 6"/>
          <p:cNvSpPr/>
          <p:nvPr/>
        </p:nvSpPr>
        <p:spPr>
          <a:xfrm>
            <a:off x="3594100" y="2340611"/>
            <a:ext cx="2095500" cy="1625600"/>
          </a:xfrm>
          <a:prstGeom prst="roundRect">
            <a:avLst>
              <a:gd name="adj" fmla="val 7813"/>
            </a:avLst>
          </a:prstGeom>
          <a:solidFill>
            <a:srgbClr val="141A2E"/>
          </a:solidFill>
          <a:ln/>
        </p:spPr>
        <p:txBody>
          <a:bodyPr/>
          <a:lstStyle/>
          <a:p>
            <a:endParaRPr lang="en-US"/>
          </a:p>
        </p:txBody>
      </p:sp>
      <p:sp>
        <p:nvSpPr>
          <p:cNvPr id="10" name="Text 7"/>
          <p:cNvSpPr/>
          <p:nvPr/>
        </p:nvSpPr>
        <p:spPr>
          <a:xfrm>
            <a:off x="3822700" y="2569211"/>
            <a:ext cx="16891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DE2FF"/>
                </a:solidFill>
                <a:latin typeface="Nunito Sans" pitchFamily="34" charset="0"/>
                <a:ea typeface="Nunito Sans" pitchFamily="34" charset="-122"/>
                <a:cs typeface="Nunito Sans" pitchFamily="34" charset="-120"/>
              </a:rPr>
              <a:t>2 · Understand</a:t>
            </a:r>
            <a:endParaRPr lang="en-US" sz="1400" dirty="0"/>
          </a:p>
        </p:txBody>
      </p:sp>
      <p:sp>
        <p:nvSpPr>
          <p:cNvPr id="11" name="Text 8"/>
          <p:cNvSpPr/>
          <p:nvPr/>
        </p:nvSpPr>
        <p:spPr>
          <a:xfrm>
            <a:off x="3822700" y="2894330"/>
            <a:ext cx="16891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F"/>
                </a:solidFill>
                <a:latin typeface="Rubik" pitchFamily="34" charset="0"/>
                <a:ea typeface="Rubik" pitchFamily="34" charset="-122"/>
                <a:cs typeface="Rubik" pitchFamily="34" charset="-120"/>
              </a:rPr>
              <a:t>MediaPipe</a:t>
            </a:r>
            <a:endParaRPr lang="en-US" sz="2000" dirty="0"/>
          </a:p>
        </p:txBody>
      </p:sp>
      <p:sp>
        <p:nvSpPr>
          <p:cNvPr id="12" name="Text 9"/>
          <p:cNvSpPr/>
          <p:nvPr/>
        </p:nvSpPr>
        <p:spPr>
          <a:xfrm>
            <a:off x="3822700" y="3275330"/>
            <a:ext cx="1689100"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8C2E0"/>
                </a:solidFill>
                <a:latin typeface="Nunito Sans" pitchFamily="34" charset="0"/>
                <a:ea typeface="Nunito Sans" pitchFamily="34" charset="-122"/>
                <a:cs typeface="Nunito Sans" pitchFamily="34" charset="-120"/>
              </a:rPr>
              <a:t>Hand gestures and face direction</a:t>
            </a:r>
            <a:endParaRPr lang="en-US" sz="1400" dirty="0"/>
          </a:p>
        </p:txBody>
      </p:sp>
      <p:pic>
        <p:nvPicPr>
          <p:cNvPr id="13" name="Image 1" descr="arrow-right"/>
          <p:cNvPicPr>
            <a:picLocks noChangeAspect="1"/>
          </p:cNvPicPr>
          <p:nvPr/>
        </p:nvPicPr>
        <p:blipFill>
          <a:blip r:embed="rId3"/>
          <a:srcRect/>
          <a:stretch/>
        </p:blipFill>
        <p:spPr>
          <a:xfrm>
            <a:off x="5842000" y="3039111"/>
            <a:ext cx="381000" cy="228600"/>
          </a:xfrm>
          <a:prstGeom prst="rect">
            <a:avLst/>
          </a:prstGeom>
        </p:spPr>
      </p:pic>
      <p:sp>
        <p:nvSpPr>
          <p:cNvPr id="14" name="Shape 10"/>
          <p:cNvSpPr/>
          <p:nvPr/>
        </p:nvSpPr>
        <p:spPr>
          <a:xfrm>
            <a:off x="6375400" y="2340611"/>
            <a:ext cx="2095500" cy="1625600"/>
          </a:xfrm>
          <a:prstGeom prst="roundRect">
            <a:avLst>
              <a:gd name="adj" fmla="val 7813"/>
            </a:avLst>
          </a:prstGeom>
          <a:solidFill>
            <a:srgbClr val="141A2E"/>
          </a:solidFill>
          <a:ln/>
        </p:spPr>
        <p:txBody>
          <a:bodyPr/>
          <a:lstStyle/>
          <a:p>
            <a:endParaRPr lang="en-US"/>
          </a:p>
        </p:txBody>
      </p:sp>
      <p:sp>
        <p:nvSpPr>
          <p:cNvPr id="15" name="Text 11"/>
          <p:cNvSpPr/>
          <p:nvPr/>
        </p:nvSpPr>
        <p:spPr>
          <a:xfrm>
            <a:off x="6604000" y="2569211"/>
            <a:ext cx="16891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DE2FF"/>
                </a:solidFill>
                <a:latin typeface="Nunito Sans" pitchFamily="34" charset="0"/>
                <a:ea typeface="Nunito Sans" pitchFamily="34" charset="-122"/>
                <a:cs typeface="Nunito Sans" pitchFamily="34" charset="-120"/>
              </a:rPr>
              <a:t>3 · Decide</a:t>
            </a:r>
            <a:endParaRPr lang="en-US" sz="1400" dirty="0"/>
          </a:p>
        </p:txBody>
      </p:sp>
      <p:sp>
        <p:nvSpPr>
          <p:cNvPr id="16" name="Text 12"/>
          <p:cNvSpPr/>
          <p:nvPr/>
        </p:nvSpPr>
        <p:spPr>
          <a:xfrm>
            <a:off x="6604000" y="2894330"/>
            <a:ext cx="16891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F"/>
                </a:solidFill>
                <a:latin typeface="Rubik" pitchFamily="34" charset="0"/>
                <a:ea typeface="Rubik" pitchFamily="34" charset="-122"/>
                <a:cs typeface="Rubik" pitchFamily="34" charset="-120"/>
              </a:rPr>
              <a:t>Python app</a:t>
            </a:r>
            <a:endParaRPr lang="en-US" sz="2000" dirty="0"/>
          </a:p>
        </p:txBody>
      </p:sp>
      <p:sp>
        <p:nvSpPr>
          <p:cNvPr id="17" name="Text 13"/>
          <p:cNvSpPr/>
          <p:nvPr/>
        </p:nvSpPr>
        <p:spPr>
          <a:xfrm>
            <a:off x="6604000" y="3275330"/>
            <a:ext cx="1689100"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8C2E0"/>
                </a:solidFill>
                <a:latin typeface="Nunito Sans" pitchFamily="34" charset="0"/>
                <a:ea typeface="Nunito Sans" pitchFamily="34" charset="-122"/>
                <a:cs typeface="Nunito Sans" pitchFamily="34" charset="-120"/>
              </a:rPr>
              <a:t>Next, back, repeat, timer</a:t>
            </a:r>
            <a:endParaRPr lang="en-US" sz="1400" dirty="0"/>
          </a:p>
        </p:txBody>
      </p:sp>
      <p:pic>
        <p:nvPicPr>
          <p:cNvPr id="18" name="Image 2" descr="arrow-right"/>
          <p:cNvPicPr>
            <a:picLocks noChangeAspect="1"/>
          </p:cNvPicPr>
          <p:nvPr/>
        </p:nvPicPr>
        <p:blipFill>
          <a:blip r:embed="rId3"/>
          <a:srcRect/>
          <a:stretch/>
        </p:blipFill>
        <p:spPr>
          <a:xfrm>
            <a:off x="8623300" y="3039111"/>
            <a:ext cx="381000" cy="228600"/>
          </a:xfrm>
          <a:prstGeom prst="rect">
            <a:avLst/>
          </a:prstGeom>
        </p:spPr>
      </p:pic>
      <p:sp>
        <p:nvSpPr>
          <p:cNvPr id="19" name="Shape 14"/>
          <p:cNvSpPr/>
          <p:nvPr/>
        </p:nvSpPr>
        <p:spPr>
          <a:xfrm>
            <a:off x="9156700" y="2072641"/>
            <a:ext cx="2095500" cy="2161540"/>
          </a:xfrm>
          <a:prstGeom prst="roundRect">
            <a:avLst>
              <a:gd name="adj" fmla="val 6061"/>
            </a:avLst>
          </a:prstGeom>
          <a:solidFill>
            <a:srgbClr val="141A2E"/>
          </a:solidFill>
          <a:ln/>
        </p:spPr>
        <p:txBody>
          <a:bodyPr/>
          <a:lstStyle/>
          <a:p>
            <a:endParaRPr lang="en-US"/>
          </a:p>
        </p:txBody>
      </p:sp>
      <p:sp>
        <p:nvSpPr>
          <p:cNvPr id="20" name="Text 15"/>
          <p:cNvSpPr/>
          <p:nvPr/>
        </p:nvSpPr>
        <p:spPr>
          <a:xfrm>
            <a:off x="9385300" y="2301241"/>
            <a:ext cx="16891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DE2FF"/>
                </a:solidFill>
                <a:latin typeface="Nunito Sans" pitchFamily="34" charset="0"/>
                <a:ea typeface="Nunito Sans" pitchFamily="34" charset="-122"/>
                <a:cs typeface="Nunito Sans" pitchFamily="34" charset="-120"/>
              </a:rPr>
              <a:t>4 · Respond</a:t>
            </a:r>
            <a:endParaRPr lang="en-US" sz="1400" dirty="0"/>
          </a:p>
        </p:txBody>
      </p:sp>
      <p:sp>
        <p:nvSpPr>
          <p:cNvPr id="21" name="Text 16"/>
          <p:cNvSpPr/>
          <p:nvPr/>
        </p:nvSpPr>
        <p:spPr>
          <a:xfrm>
            <a:off x="9385300" y="2626361"/>
            <a:ext cx="1689100"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F"/>
                </a:solidFill>
                <a:latin typeface="Rubik" pitchFamily="34" charset="0"/>
                <a:ea typeface="Rubik" pitchFamily="34" charset="-122"/>
                <a:cs typeface="Rubik" pitchFamily="34" charset="-120"/>
              </a:rPr>
              <a:t>Voice and LCD</a:t>
            </a:r>
            <a:endParaRPr lang="en-US" sz="2000" dirty="0"/>
          </a:p>
        </p:txBody>
      </p:sp>
      <p:sp>
        <p:nvSpPr>
          <p:cNvPr id="22" name="Text 17"/>
          <p:cNvSpPr/>
          <p:nvPr/>
        </p:nvSpPr>
        <p:spPr>
          <a:xfrm>
            <a:off x="9385300" y="3312161"/>
            <a:ext cx="1689100"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8C2E0"/>
                </a:solidFill>
                <a:latin typeface="Nunito Sans" pitchFamily="34" charset="0"/>
                <a:ea typeface="Nunito Sans" pitchFamily="34" charset="-122"/>
                <a:cs typeface="Nunito Sans" pitchFamily="34" charset="-120"/>
              </a:rPr>
              <a:t>Reads aloud, Arduino shows steps</a:t>
            </a:r>
            <a:endParaRPr lang="en-US" sz="1400" dirty="0"/>
          </a:p>
        </p:txBody>
      </p:sp>
      <p:sp>
        <p:nvSpPr>
          <p:cNvPr id="23" name="Text 18"/>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DE2FF"/>
                </a:solidFill>
                <a:latin typeface="Nunito Sans" pitchFamily="34" charset="0"/>
                <a:ea typeface="Nunito Sans" pitchFamily="34" charset="-122"/>
                <a:cs typeface="Nunito Sans" pitchFamily="34" charset="-120"/>
              </a:rPr>
              <a:t>THE GESTURES</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F"/>
                </a:solidFill>
                <a:latin typeface="Rubik" pitchFamily="34" charset="0"/>
                <a:ea typeface="Rubik" pitchFamily="34" charset="-122"/>
                <a:cs typeface="Rubik" pitchFamily="34" charset="-120"/>
              </a:rPr>
              <a:t>Six simple hand signals</a:t>
            </a:r>
            <a:endParaRPr lang="en-US" sz="3600" dirty="0"/>
          </a:p>
        </p:txBody>
      </p:sp>
      <p:sp>
        <p:nvSpPr>
          <p:cNvPr id="4" name="Shape 2"/>
          <p:cNvSpPr/>
          <p:nvPr/>
        </p:nvSpPr>
        <p:spPr>
          <a:xfrm>
            <a:off x="812800" y="2021839"/>
            <a:ext cx="3403600" cy="1097280"/>
          </a:xfrm>
          <a:prstGeom prst="roundRect">
            <a:avLst>
              <a:gd name="adj" fmla="val 11574"/>
            </a:avLst>
          </a:prstGeom>
          <a:solidFill>
            <a:srgbClr val="141A2E"/>
          </a:solidFill>
          <a:ln/>
        </p:spPr>
        <p:txBody>
          <a:bodyPr/>
          <a:lstStyle/>
          <a:p>
            <a:endParaRPr lang="en-US"/>
          </a:p>
        </p:txBody>
      </p:sp>
      <p:sp>
        <p:nvSpPr>
          <p:cNvPr id="5" name="Text 3"/>
          <p:cNvSpPr/>
          <p:nvPr/>
        </p:nvSpPr>
        <p:spPr>
          <a:xfrm>
            <a:off x="1041400" y="2250439"/>
            <a:ext cx="30347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E2FF"/>
                </a:solidFill>
                <a:latin typeface="Rubik" pitchFamily="34" charset="0"/>
                <a:ea typeface="Rubik" pitchFamily="34" charset="-122"/>
                <a:cs typeface="Rubik" pitchFamily="34" charset="-120"/>
              </a:rPr>
              <a:t>Thumb up</a:t>
            </a:r>
            <a:endParaRPr lang="en-US" sz="2000" dirty="0"/>
          </a:p>
        </p:txBody>
      </p:sp>
      <p:sp>
        <p:nvSpPr>
          <p:cNvPr id="6" name="Text 4"/>
          <p:cNvSpPr/>
          <p:nvPr/>
        </p:nvSpPr>
        <p:spPr>
          <a:xfrm>
            <a:off x="1041400" y="2606039"/>
            <a:ext cx="30347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6FF"/>
                </a:solidFill>
                <a:latin typeface="Nunito Sans" pitchFamily="34" charset="0"/>
                <a:ea typeface="Nunito Sans" pitchFamily="34" charset="-122"/>
                <a:cs typeface="Nunito Sans" pitchFamily="34" charset="-120"/>
              </a:rPr>
              <a:t>Next step</a:t>
            </a:r>
            <a:endParaRPr lang="en-US" sz="1600" dirty="0"/>
          </a:p>
        </p:txBody>
      </p:sp>
      <p:sp>
        <p:nvSpPr>
          <p:cNvPr id="7" name="Shape 5"/>
          <p:cNvSpPr/>
          <p:nvPr/>
        </p:nvSpPr>
        <p:spPr>
          <a:xfrm>
            <a:off x="4394200" y="2021839"/>
            <a:ext cx="3403600" cy="1097280"/>
          </a:xfrm>
          <a:prstGeom prst="roundRect">
            <a:avLst>
              <a:gd name="adj" fmla="val 11574"/>
            </a:avLst>
          </a:prstGeom>
          <a:solidFill>
            <a:srgbClr val="141A2E"/>
          </a:solidFill>
          <a:ln/>
        </p:spPr>
        <p:txBody>
          <a:bodyPr/>
          <a:lstStyle/>
          <a:p>
            <a:endParaRPr lang="en-US"/>
          </a:p>
        </p:txBody>
      </p:sp>
      <p:sp>
        <p:nvSpPr>
          <p:cNvPr id="8" name="Text 6"/>
          <p:cNvSpPr/>
          <p:nvPr/>
        </p:nvSpPr>
        <p:spPr>
          <a:xfrm>
            <a:off x="4622800" y="2250439"/>
            <a:ext cx="30347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E2FF"/>
                </a:solidFill>
                <a:latin typeface="Rubik" pitchFamily="34" charset="0"/>
                <a:ea typeface="Rubik" pitchFamily="34" charset="-122"/>
                <a:cs typeface="Rubik" pitchFamily="34" charset="-120"/>
              </a:rPr>
              <a:t>Thumb down</a:t>
            </a:r>
            <a:endParaRPr lang="en-US" sz="2000" dirty="0"/>
          </a:p>
        </p:txBody>
      </p:sp>
      <p:sp>
        <p:nvSpPr>
          <p:cNvPr id="9" name="Text 7"/>
          <p:cNvSpPr/>
          <p:nvPr/>
        </p:nvSpPr>
        <p:spPr>
          <a:xfrm>
            <a:off x="4622800" y="2606039"/>
            <a:ext cx="30347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6FF"/>
                </a:solidFill>
                <a:latin typeface="Nunito Sans" pitchFamily="34" charset="0"/>
                <a:ea typeface="Nunito Sans" pitchFamily="34" charset="-122"/>
                <a:cs typeface="Nunito Sans" pitchFamily="34" charset="-120"/>
              </a:rPr>
              <a:t>Previous step</a:t>
            </a:r>
            <a:endParaRPr lang="en-US" sz="1600" dirty="0"/>
          </a:p>
        </p:txBody>
      </p:sp>
      <p:sp>
        <p:nvSpPr>
          <p:cNvPr id="10" name="Shape 8"/>
          <p:cNvSpPr/>
          <p:nvPr/>
        </p:nvSpPr>
        <p:spPr>
          <a:xfrm>
            <a:off x="7975600" y="2021839"/>
            <a:ext cx="3403600" cy="1097280"/>
          </a:xfrm>
          <a:prstGeom prst="roundRect">
            <a:avLst>
              <a:gd name="adj" fmla="val 11574"/>
            </a:avLst>
          </a:prstGeom>
          <a:solidFill>
            <a:srgbClr val="141A2E"/>
          </a:solidFill>
          <a:ln/>
        </p:spPr>
        <p:txBody>
          <a:bodyPr/>
          <a:lstStyle/>
          <a:p>
            <a:endParaRPr lang="en-US"/>
          </a:p>
        </p:txBody>
      </p:sp>
      <p:sp>
        <p:nvSpPr>
          <p:cNvPr id="11" name="Text 9"/>
          <p:cNvSpPr/>
          <p:nvPr/>
        </p:nvSpPr>
        <p:spPr>
          <a:xfrm>
            <a:off x="8204200" y="2250439"/>
            <a:ext cx="30347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E2FF"/>
                </a:solidFill>
                <a:latin typeface="Rubik" pitchFamily="34" charset="0"/>
                <a:ea typeface="Rubik" pitchFamily="34" charset="-122"/>
                <a:cs typeface="Rubik" pitchFamily="34" charset="-120"/>
              </a:rPr>
              <a:t>Open palm</a:t>
            </a:r>
            <a:endParaRPr lang="en-US" sz="2000" dirty="0"/>
          </a:p>
        </p:txBody>
      </p:sp>
      <p:sp>
        <p:nvSpPr>
          <p:cNvPr id="12" name="Text 10"/>
          <p:cNvSpPr/>
          <p:nvPr/>
        </p:nvSpPr>
        <p:spPr>
          <a:xfrm>
            <a:off x="8204200" y="2606039"/>
            <a:ext cx="30347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6FF"/>
                </a:solidFill>
                <a:latin typeface="Nunito Sans" pitchFamily="34" charset="0"/>
                <a:ea typeface="Nunito Sans" pitchFamily="34" charset="-122"/>
                <a:cs typeface="Nunito Sans" pitchFamily="34" charset="-120"/>
              </a:rPr>
              <a:t>Repeat the step</a:t>
            </a:r>
            <a:endParaRPr lang="en-US" sz="1600" dirty="0"/>
          </a:p>
        </p:txBody>
      </p:sp>
      <p:sp>
        <p:nvSpPr>
          <p:cNvPr id="13" name="Shape 11"/>
          <p:cNvSpPr/>
          <p:nvPr/>
        </p:nvSpPr>
        <p:spPr>
          <a:xfrm>
            <a:off x="812800" y="3296921"/>
            <a:ext cx="3403600" cy="1097280"/>
          </a:xfrm>
          <a:prstGeom prst="roundRect">
            <a:avLst>
              <a:gd name="adj" fmla="val 11574"/>
            </a:avLst>
          </a:prstGeom>
          <a:solidFill>
            <a:srgbClr val="141A2E"/>
          </a:solidFill>
          <a:ln/>
        </p:spPr>
        <p:txBody>
          <a:bodyPr/>
          <a:lstStyle/>
          <a:p>
            <a:endParaRPr lang="en-US"/>
          </a:p>
        </p:txBody>
      </p:sp>
      <p:sp>
        <p:nvSpPr>
          <p:cNvPr id="14" name="Text 12"/>
          <p:cNvSpPr/>
          <p:nvPr/>
        </p:nvSpPr>
        <p:spPr>
          <a:xfrm>
            <a:off x="1041400" y="3525521"/>
            <a:ext cx="30347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E2FF"/>
                </a:solidFill>
                <a:latin typeface="Rubik" pitchFamily="34" charset="0"/>
                <a:ea typeface="Rubik" pitchFamily="34" charset="-122"/>
                <a:cs typeface="Rubik" pitchFamily="34" charset="-120"/>
              </a:rPr>
              <a:t>Point up</a:t>
            </a:r>
            <a:endParaRPr lang="en-US" sz="2000" dirty="0"/>
          </a:p>
        </p:txBody>
      </p:sp>
      <p:sp>
        <p:nvSpPr>
          <p:cNvPr id="15" name="Text 13"/>
          <p:cNvSpPr/>
          <p:nvPr/>
        </p:nvSpPr>
        <p:spPr>
          <a:xfrm>
            <a:off x="1041400" y="3881121"/>
            <a:ext cx="30347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6FF"/>
                </a:solidFill>
                <a:latin typeface="Nunito Sans" pitchFamily="34" charset="0"/>
                <a:ea typeface="Nunito Sans" pitchFamily="34" charset="-122"/>
                <a:cs typeface="Nunito Sans" pitchFamily="34" charset="-120"/>
              </a:rPr>
              <a:t>Start the timer</a:t>
            </a:r>
            <a:endParaRPr lang="en-US" sz="1600" dirty="0"/>
          </a:p>
        </p:txBody>
      </p:sp>
      <p:sp>
        <p:nvSpPr>
          <p:cNvPr id="16" name="Shape 14"/>
          <p:cNvSpPr/>
          <p:nvPr/>
        </p:nvSpPr>
        <p:spPr>
          <a:xfrm>
            <a:off x="4394200" y="3296921"/>
            <a:ext cx="3403600" cy="1097280"/>
          </a:xfrm>
          <a:prstGeom prst="roundRect">
            <a:avLst>
              <a:gd name="adj" fmla="val 11574"/>
            </a:avLst>
          </a:prstGeom>
          <a:solidFill>
            <a:srgbClr val="141A2E"/>
          </a:solidFill>
          <a:ln/>
        </p:spPr>
        <p:txBody>
          <a:bodyPr/>
          <a:lstStyle/>
          <a:p>
            <a:endParaRPr lang="en-US"/>
          </a:p>
        </p:txBody>
      </p:sp>
      <p:sp>
        <p:nvSpPr>
          <p:cNvPr id="17" name="Text 15"/>
          <p:cNvSpPr/>
          <p:nvPr/>
        </p:nvSpPr>
        <p:spPr>
          <a:xfrm>
            <a:off x="4622800" y="3525521"/>
            <a:ext cx="30347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E2FF"/>
                </a:solidFill>
                <a:latin typeface="Rubik" pitchFamily="34" charset="0"/>
                <a:ea typeface="Rubik" pitchFamily="34" charset="-122"/>
                <a:cs typeface="Rubik" pitchFamily="34" charset="-120"/>
              </a:rPr>
              <a:t>Fist</a:t>
            </a:r>
            <a:endParaRPr lang="en-US" sz="2000" dirty="0"/>
          </a:p>
        </p:txBody>
      </p:sp>
      <p:sp>
        <p:nvSpPr>
          <p:cNvPr id="18" name="Text 16"/>
          <p:cNvSpPr/>
          <p:nvPr/>
        </p:nvSpPr>
        <p:spPr>
          <a:xfrm>
            <a:off x="4622800" y="3881121"/>
            <a:ext cx="30347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6FF"/>
                </a:solidFill>
                <a:latin typeface="Nunito Sans" pitchFamily="34" charset="0"/>
                <a:ea typeface="Nunito Sans" pitchFamily="34" charset="-122"/>
                <a:cs typeface="Nunito Sans" pitchFamily="34" charset="-120"/>
              </a:rPr>
              <a:t>Cancel the timer</a:t>
            </a:r>
            <a:endParaRPr lang="en-US" sz="1600" dirty="0"/>
          </a:p>
        </p:txBody>
      </p:sp>
      <p:sp>
        <p:nvSpPr>
          <p:cNvPr id="19" name="Shape 17"/>
          <p:cNvSpPr/>
          <p:nvPr/>
        </p:nvSpPr>
        <p:spPr>
          <a:xfrm>
            <a:off x="7975600" y="3296921"/>
            <a:ext cx="3403600" cy="1097280"/>
          </a:xfrm>
          <a:prstGeom prst="roundRect">
            <a:avLst>
              <a:gd name="adj" fmla="val 11574"/>
            </a:avLst>
          </a:prstGeom>
          <a:solidFill>
            <a:srgbClr val="141A2E"/>
          </a:solidFill>
          <a:ln/>
        </p:spPr>
        <p:txBody>
          <a:bodyPr/>
          <a:lstStyle/>
          <a:p>
            <a:endParaRPr lang="en-US"/>
          </a:p>
        </p:txBody>
      </p:sp>
      <p:sp>
        <p:nvSpPr>
          <p:cNvPr id="20" name="Text 18"/>
          <p:cNvSpPr/>
          <p:nvPr/>
        </p:nvSpPr>
        <p:spPr>
          <a:xfrm>
            <a:off x="8204200" y="3525521"/>
            <a:ext cx="30347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DE2FF"/>
                </a:solidFill>
                <a:latin typeface="Rubik" pitchFamily="34" charset="0"/>
                <a:ea typeface="Rubik" pitchFamily="34" charset="-122"/>
                <a:cs typeface="Rubik" pitchFamily="34" charset="-120"/>
              </a:rPr>
              <a:t>Swipe</a:t>
            </a:r>
            <a:endParaRPr lang="en-US" sz="2000" dirty="0"/>
          </a:p>
        </p:txBody>
      </p:sp>
      <p:sp>
        <p:nvSpPr>
          <p:cNvPr id="21" name="Text 19"/>
          <p:cNvSpPr/>
          <p:nvPr/>
        </p:nvSpPr>
        <p:spPr>
          <a:xfrm>
            <a:off x="8204200" y="3881121"/>
            <a:ext cx="30347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6FF"/>
                </a:solidFill>
                <a:latin typeface="Nunito Sans" pitchFamily="34" charset="0"/>
                <a:ea typeface="Nunito Sans" pitchFamily="34" charset="-122"/>
                <a:cs typeface="Nunito Sans" pitchFamily="34" charset="-120"/>
              </a:rPr>
              <a:t>Right is next, left is back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DE2FF"/>
                </a:solidFill>
                <a:latin typeface="Nunito Sans" pitchFamily="34" charset="0"/>
                <a:ea typeface="Nunito Sans" pitchFamily="34" charset="-122"/>
                <a:cs typeface="Nunito Sans" pitchFamily="34" charset="-120"/>
              </a:rPr>
              <a:t>SAFETY PROTOCOL</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F"/>
                </a:solidFill>
                <a:latin typeface="Rubik" pitchFamily="34" charset="0"/>
                <a:ea typeface="Rubik" pitchFamily="34" charset="-122"/>
                <a:cs typeface="Rubik" pitchFamily="34" charset="-120"/>
              </a:rPr>
              <a:t>Look at the camera to swipe</a:t>
            </a:r>
            <a:endParaRPr lang="en-US" sz="3600" dirty="0"/>
          </a:p>
        </p:txBody>
      </p:sp>
      <p:sp>
        <p:nvSpPr>
          <p:cNvPr id="4" name="Shape 2"/>
          <p:cNvSpPr/>
          <p:nvPr/>
        </p:nvSpPr>
        <p:spPr>
          <a:xfrm>
            <a:off x="819150" y="2028189"/>
            <a:ext cx="5143500" cy="1928495"/>
          </a:xfrm>
          <a:prstGeom prst="roundRect">
            <a:avLst>
              <a:gd name="adj" fmla="val 6256"/>
            </a:avLst>
          </a:prstGeom>
          <a:solidFill>
            <a:srgbClr val="141A2E"/>
          </a:solidFill>
          <a:ln w="12700">
            <a:solidFill>
              <a:srgbClr val="2A3358"/>
            </a:solidFill>
            <a:prstDash val="solid"/>
          </a:ln>
        </p:spPr>
        <p:txBody>
          <a:bodyPr/>
          <a:lstStyle/>
          <a:p>
            <a:endParaRPr lang="en-US"/>
          </a:p>
        </p:txBody>
      </p:sp>
      <p:sp>
        <p:nvSpPr>
          <p:cNvPr id="5" name="Text 3"/>
          <p:cNvSpPr/>
          <p:nvPr/>
        </p:nvSpPr>
        <p:spPr>
          <a:xfrm>
            <a:off x="1127760" y="2336800"/>
            <a:ext cx="466206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F"/>
                </a:solidFill>
                <a:latin typeface="Rubik" pitchFamily="34" charset="0"/>
                <a:ea typeface="Rubik" pitchFamily="34" charset="-122"/>
                <a:cs typeface="Rubik" pitchFamily="34" charset="-120"/>
              </a:rPr>
              <a:t>Why</a:t>
            </a:r>
            <a:endParaRPr lang="en-US" sz="2200" dirty="0"/>
          </a:p>
        </p:txBody>
      </p:sp>
      <p:sp>
        <p:nvSpPr>
          <p:cNvPr id="6" name="Text 4"/>
          <p:cNvSpPr/>
          <p:nvPr/>
        </p:nvSpPr>
        <p:spPr>
          <a:xfrm>
            <a:off x="1127760" y="2773682"/>
            <a:ext cx="4662068"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B8C2E0"/>
                </a:solidFill>
                <a:latin typeface="Nunito Sans" pitchFamily="34" charset="0"/>
                <a:ea typeface="Nunito Sans" pitchFamily="34" charset="-122"/>
                <a:cs typeface="Nunito Sans" pitchFamily="34" charset="-120"/>
              </a:rPr>
              <a:t>Reaching across the counter or waving at a family member should never change your recipe.</a:t>
            </a:r>
            <a:endParaRPr lang="en-US" sz="1700" dirty="0"/>
          </a:p>
        </p:txBody>
      </p:sp>
      <p:sp>
        <p:nvSpPr>
          <p:cNvPr id="7" name="Shape 5"/>
          <p:cNvSpPr/>
          <p:nvPr/>
        </p:nvSpPr>
        <p:spPr>
          <a:xfrm>
            <a:off x="6229350" y="2028189"/>
            <a:ext cx="5143500" cy="1928495"/>
          </a:xfrm>
          <a:prstGeom prst="roundRect">
            <a:avLst>
              <a:gd name="adj" fmla="val 6256"/>
            </a:avLst>
          </a:prstGeom>
          <a:solidFill>
            <a:srgbClr val="141A2E"/>
          </a:solidFill>
          <a:ln w="12700">
            <a:solidFill>
              <a:srgbClr val="2A3358"/>
            </a:solidFill>
            <a:prstDash val="solid"/>
          </a:ln>
        </p:spPr>
        <p:txBody>
          <a:bodyPr/>
          <a:lstStyle/>
          <a:p>
            <a:endParaRPr lang="en-US"/>
          </a:p>
        </p:txBody>
      </p:sp>
      <p:sp>
        <p:nvSpPr>
          <p:cNvPr id="8" name="Text 6"/>
          <p:cNvSpPr/>
          <p:nvPr/>
        </p:nvSpPr>
        <p:spPr>
          <a:xfrm>
            <a:off x="6537960" y="2336800"/>
            <a:ext cx="466206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F"/>
                </a:solidFill>
                <a:latin typeface="Rubik" pitchFamily="34" charset="0"/>
                <a:ea typeface="Rubik" pitchFamily="34" charset="-122"/>
                <a:cs typeface="Rubik" pitchFamily="34" charset="-120"/>
              </a:rPr>
              <a:t>How</a:t>
            </a:r>
            <a:endParaRPr lang="en-US" sz="2200" dirty="0"/>
          </a:p>
        </p:txBody>
      </p:sp>
      <p:sp>
        <p:nvSpPr>
          <p:cNvPr id="9" name="Text 7"/>
          <p:cNvSpPr/>
          <p:nvPr/>
        </p:nvSpPr>
        <p:spPr>
          <a:xfrm>
            <a:off x="6537960" y="2773682"/>
            <a:ext cx="4662068"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B8C2E0"/>
                </a:solidFill>
                <a:latin typeface="Nunito Sans" pitchFamily="34" charset="0"/>
                <a:ea typeface="Nunito Sans" pitchFamily="34" charset="-122"/>
                <a:cs typeface="Nunito Sans" pitchFamily="34" charset="-120"/>
              </a:rPr>
              <a:t>A second computer vision model tracks which way your face points. A swipe only counts while you look at the screen.</a:t>
            </a:r>
            <a:endParaRPr lang="en-US" sz="1700" dirty="0"/>
          </a:p>
        </p:txBody>
      </p:sp>
      <p:sp>
        <p:nvSpPr>
          <p:cNvPr id="10" name="Text 8"/>
          <p:cNvSpPr/>
          <p:nvPr/>
        </p:nvSpPr>
        <p:spPr>
          <a:xfrm>
            <a:off x="1127760" y="429323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0"/>
                </a:solidFill>
                <a:latin typeface="Nunito Sans" pitchFamily="34" charset="0"/>
                <a:ea typeface="Nunito Sans" pitchFamily="34" charset="-122"/>
                <a:cs typeface="Nunito Sans" pitchFamily="34" charset="-120"/>
              </a:rPr>
              <a:t>Safety Features: Face must be facing or looking at the camera for it perform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DE2FF"/>
                </a:solidFill>
                <a:latin typeface="Nunito Sans" pitchFamily="34" charset="0"/>
                <a:ea typeface="Nunito Sans" pitchFamily="34" charset="-122"/>
                <a:cs typeface="Nunito Sans" pitchFamily="34" charset="-120"/>
              </a:rPr>
              <a:t>ROBOTICS TIE-IN</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F"/>
                </a:solidFill>
                <a:latin typeface="Rubik" pitchFamily="34" charset="0"/>
                <a:ea typeface="Rubik" pitchFamily="34" charset="-122"/>
                <a:cs typeface="Rubik" pitchFamily="34" charset="-120"/>
              </a:rPr>
              <a:t>A real kitchen display, built for $0</a:t>
            </a:r>
            <a:endParaRPr lang="en-US" sz="3600" dirty="0"/>
          </a:p>
        </p:txBody>
      </p:sp>
      <p:sp>
        <p:nvSpPr>
          <p:cNvPr id="4" name="Shape 2"/>
          <p:cNvSpPr/>
          <p:nvPr/>
        </p:nvSpPr>
        <p:spPr>
          <a:xfrm>
            <a:off x="812800" y="2021839"/>
            <a:ext cx="3352800" cy="1920875"/>
          </a:xfrm>
          <a:prstGeom prst="roundRect">
            <a:avLst>
              <a:gd name="adj" fmla="val 6612"/>
            </a:avLst>
          </a:prstGeom>
          <a:solidFill>
            <a:srgbClr val="141A2E"/>
          </a:solidFill>
          <a:ln/>
        </p:spPr>
        <p:txBody>
          <a:bodyPr/>
          <a:lstStyle/>
          <a:p>
            <a:endParaRPr lang="en-US"/>
          </a:p>
        </p:txBody>
      </p:sp>
      <p:sp>
        <p:nvSpPr>
          <p:cNvPr id="5" name="Text 3"/>
          <p:cNvSpPr/>
          <p:nvPr/>
        </p:nvSpPr>
        <p:spPr>
          <a:xfrm>
            <a:off x="1117600" y="2326639"/>
            <a:ext cx="282549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DE2FF"/>
                </a:solidFill>
                <a:latin typeface="Rubik" pitchFamily="34" charset="0"/>
                <a:ea typeface="Rubik" pitchFamily="34" charset="-122"/>
                <a:cs typeface="Rubik" pitchFamily="34" charset="-120"/>
              </a:rPr>
              <a:t>Arduino Uno + LCD</a:t>
            </a:r>
            <a:endParaRPr lang="en-US" sz="2200" dirty="0"/>
          </a:p>
        </p:txBody>
      </p:sp>
      <p:sp>
        <p:nvSpPr>
          <p:cNvPr id="6" name="Text 4"/>
          <p:cNvSpPr/>
          <p:nvPr/>
        </p:nvSpPr>
        <p:spPr>
          <a:xfrm>
            <a:off x="1117600" y="2763521"/>
            <a:ext cx="2825496"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6FF"/>
                </a:solidFill>
                <a:latin typeface="Nunito Sans" pitchFamily="34" charset="0"/>
                <a:ea typeface="Nunito Sans" pitchFamily="34" charset="-122"/>
                <a:cs typeface="Nunito Sans" pitchFamily="34" charset="-120"/>
              </a:rPr>
              <a:t>Shows the step number, ingredients and a live timer countdown.</a:t>
            </a:r>
            <a:endParaRPr lang="en-US" sz="1700" dirty="0"/>
          </a:p>
        </p:txBody>
      </p:sp>
      <p:sp>
        <p:nvSpPr>
          <p:cNvPr id="7" name="Shape 5"/>
          <p:cNvSpPr/>
          <p:nvPr/>
        </p:nvSpPr>
        <p:spPr>
          <a:xfrm>
            <a:off x="4419600" y="2021839"/>
            <a:ext cx="3352800" cy="1920875"/>
          </a:xfrm>
          <a:prstGeom prst="roundRect">
            <a:avLst>
              <a:gd name="adj" fmla="val 6612"/>
            </a:avLst>
          </a:prstGeom>
          <a:solidFill>
            <a:srgbClr val="141A2E"/>
          </a:solidFill>
          <a:ln/>
        </p:spPr>
        <p:txBody>
          <a:bodyPr/>
          <a:lstStyle/>
          <a:p>
            <a:endParaRPr lang="en-US"/>
          </a:p>
        </p:txBody>
      </p:sp>
      <p:sp>
        <p:nvSpPr>
          <p:cNvPr id="8" name="Text 6"/>
          <p:cNvSpPr/>
          <p:nvPr/>
        </p:nvSpPr>
        <p:spPr>
          <a:xfrm>
            <a:off x="4724400" y="2326639"/>
            <a:ext cx="282549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DE2FF"/>
                </a:solidFill>
                <a:latin typeface="Rubik" pitchFamily="34" charset="0"/>
                <a:ea typeface="Rubik" pitchFamily="34" charset="-122"/>
                <a:cs typeface="Rubik" pitchFamily="34" charset="-120"/>
              </a:rPr>
              <a:t>Buzzer</a:t>
            </a:r>
            <a:endParaRPr lang="en-US" sz="2200" dirty="0"/>
          </a:p>
        </p:txBody>
      </p:sp>
      <p:sp>
        <p:nvSpPr>
          <p:cNvPr id="9" name="Text 7"/>
          <p:cNvSpPr/>
          <p:nvPr/>
        </p:nvSpPr>
        <p:spPr>
          <a:xfrm>
            <a:off x="4724400" y="2763521"/>
            <a:ext cx="2825496"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6FF"/>
                </a:solidFill>
                <a:latin typeface="Nunito Sans" pitchFamily="34" charset="0"/>
                <a:ea typeface="Nunito Sans" pitchFamily="34" charset="-122"/>
                <a:cs typeface="Nunito Sans" pitchFamily="34" charset="-120"/>
              </a:rPr>
              <a:t>Chirps on every gesture and sounds a 3-beep alarm when time is up.</a:t>
            </a:r>
            <a:endParaRPr lang="en-US" sz="1700" dirty="0"/>
          </a:p>
        </p:txBody>
      </p:sp>
      <p:sp>
        <p:nvSpPr>
          <p:cNvPr id="10" name="Shape 8"/>
          <p:cNvSpPr/>
          <p:nvPr/>
        </p:nvSpPr>
        <p:spPr>
          <a:xfrm>
            <a:off x="8026400" y="2021839"/>
            <a:ext cx="3352800" cy="1920875"/>
          </a:xfrm>
          <a:prstGeom prst="roundRect">
            <a:avLst>
              <a:gd name="adj" fmla="val 6612"/>
            </a:avLst>
          </a:prstGeom>
          <a:solidFill>
            <a:srgbClr val="141A2E"/>
          </a:solidFill>
          <a:ln/>
        </p:spPr>
        <p:txBody>
          <a:bodyPr/>
          <a:lstStyle/>
          <a:p>
            <a:endParaRPr lang="en-US"/>
          </a:p>
        </p:txBody>
      </p:sp>
      <p:sp>
        <p:nvSpPr>
          <p:cNvPr id="11" name="Text 9"/>
          <p:cNvSpPr/>
          <p:nvPr/>
        </p:nvSpPr>
        <p:spPr>
          <a:xfrm>
            <a:off x="8331200" y="2326639"/>
            <a:ext cx="282549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DE2FF"/>
                </a:solidFill>
                <a:latin typeface="Rubik" pitchFamily="34" charset="0"/>
                <a:ea typeface="Rubik" pitchFamily="34" charset="-122"/>
                <a:cs typeface="Rubik" pitchFamily="34" charset="-120"/>
              </a:rPr>
              <a:t>USB serial link</a:t>
            </a:r>
            <a:endParaRPr lang="en-US" sz="2200" dirty="0"/>
          </a:p>
        </p:txBody>
      </p:sp>
      <p:sp>
        <p:nvSpPr>
          <p:cNvPr id="12" name="Text 10"/>
          <p:cNvSpPr/>
          <p:nvPr/>
        </p:nvSpPr>
        <p:spPr>
          <a:xfrm>
            <a:off x="8331200" y="2763521"/>
            <a:ext cx="2825496" cy="89979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6FF"/>
                </a:solidFill>
                <a:latin typeface="Nunito Sans" pitchFamily="34" charset="0"/>
                <a:ea typeface="Nunito Sans" pitchFamily="34" charset="-122"/>
                <a:cs typeface="Nunito Sans" pitchFamily="34" charset="-120"/>
              </a:rPr>
              <a:t>Python sends short commands. The Arduino acts on them.</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B2BE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5B2BE0"/>
              </a:gs>
              <a:gs pos="100000">
                <a:srgbClr val="1479D6"/>
              </a:gs>
            </a:gsLst>
            <a:lin ang="2700000" scaled="0"/>
          </a:gradFill>
          <a:ln/>
        </p:spPr>
        <p:txBody>
          <a:bodyPr/>
          <a:lstStyle/>
          <a:p>
            <a:endParaRPr lang="en-US"/>
          </a:p>
        </p:txBody>
      </p:sp>
      <p:sp>
        <p:nvSpPr>
          <p:cNvPr id="3" name="Text 1"/>
          <p:cNvSpPr/>
          <p:nvPr/>
        </p:nvSpPr>
        <p:spPr>
          <a:xfrm>
            <a:off x="812800" y="212343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200" dirty="0">
                <a:solidFill>
                  <a:srgbClr val="F4F6FF"/>
                </a:solidFill>
                <a:latin typeface="Nunito Sans" pitchFamily="34" charset="0"/>
                <a:ea typeface="Nunito Sans" pitchFamily="34" charset="-122"/>
                <a:cs typeface="Nunito Sans" pitchFamily="34" charset="-120"/>
              </a:rPr>
              <a:t>LIVE DEMO</a:t>
            </a:r>
            <a:endParaRPr lang="en-US" sz="1500" dirty="0"/>
          </a:p>
        </p:txBody>
      </p:sp>
      <p:sp>
        <p:nvSpPr>
          <p:cNvPr id="4" name="Text 2"/>
          <p:cNvSpPr>
            <a:spLocks noGrp="1"/>
          </p:cNvSpPr>
          <p:nvPr>
            <p:ph type="title"/>
          </p:nvPr>
        </p:nvSpPr>
        <p:spPr>
          <a:xfrm>
            <a:off x="812800" y="2644139"/>
            <a:ext cx="10883392" cy="932180"/>
          </a:xfrm>
          <a:prstGeom prst="rect">
            <a:avLst/>
          </a:prstGeom>
          <a:noFill/>
          <a:ln/>
        </p:spPr>
        <p:txBody>
          <a:bodyPr wrap="square" lIns="0" tIns="0" rIns="0" bIns="0" rtlCol="0" anchor="t">
            <a:normAutofit/>
          </a:bodyPr>
          <a:lstStyle/>
          <a:p>
            <a:pPr marL="0" indent="0" algn="l">
              <a:lnSpc>
                <a:spcPts val="7140"/>
              </a:lnSpc>
              <a:buNone/>
            </a:pPr>
            <a:r>
              <a:rPr lang="en-US" sz="6800" b="1" i="0" dirty="0">
                <a:solidFill>
                  <a:srgbClr val="F4F6FF"/>
                </a:solidFill>
                <a:latin typeface="Rubik" pitchFamily="34" charset="0"/>
                <a:ea typeface="Rubik" pitchFamily="34" charset="-122"/>
                <a:cs typeface="Rubik" pitchFamily="34" charset="-120"/>
              </a:rPr>
              <a:t>Let's cook.</a:t>
            </a:r>
            <a:endParaRPr lang="en-US" sz="6800" dirty="0"/>
          </a:p>
        </p:txBody>
      </p:sp>
      <p:sp>
        <p:nvSpPr>
          <p:cNvPr id="5" name="Text 3"/>
          <p:cNvSpPr/>
          <p:nvPr/>
        </p:nvSpPr>
        <p:spPr>
          <a:xfrm>
            <a:off x="812800" y="3804921"/>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4F6FF"/>
                </a:solidFill>
                <a:latin typeface="Nunito Sans" pitchFamily="34" charset="0"/>
                <a:ea typeface="Nunito Sans" pitchFamily="34" charset="-122"/>
                <a:cs typeface="Nunito Sans" pitchFamily="34" charset="-120"/>
              </a:rPr>
              <a:t>Thumbs up, swipe, point for a timer. If the live demo fails, the demo video is the backup.</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DE2FF"/>
                </a:solidFill>
                <a:latin typeface="Nunito Sans" pitchFamily="34" charset="0"/>
                <a:ea typeface="Nunito Sans" pitchFamily="34" charset="-122"/>
                <a:cs typeface="Nunito Sans" pitchFamily="34" charset="-120"/>
              </a:rPr>
              <a:t>AI DISCLOSURE AND CREDITS</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F"/>
                </a:solidFill>
                <a:latin typeface="Rubik" pitchFamily="34" charset="0"/>
                <a:ea typeface="Rubik" pitchFamily="34" charset="-122"/>
                <a:cs typeface="Rubik" pitchFamily="34" charset="-120"/>
              </a:rPr>
              <a:t>Who built what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3912143714"/>
              </p:ext>
            </p:extLst>
          </p:nvPr>
        </p:nvGraphicFramePr>
        <p:xfrm>
          <a:off x="822960" y="1981202"/>
          <a:ext cx="10556240" cy="2564765"/>
        </p:xfrm>
        <a:graphic>
          <a:graphicData uri="http://schemas.openxmlformats.org/drawingml/2006/table">
            <a:tbl>
              <a:tblPr/>
              <a:tblGrid>
                <a:gridCol w="3166872">
                  <a:extLst>
                    <a:ext uri="{9D8B030D-6E8A-4147-A177-3AD203B41FA5}">
                      <a16:colId xmlns:a16="http://schemas.microsoft.com/office/drawing/2014/main" val="20000"/>
                    </a:ext>
                  </a:extLst>
                </a:gridCol>
                <a:gridCol w="7389368">
                  <a:extLst>
                    <a:ext uri="{9D8B030D-6E8A-4147-A177-3AD203B41FA5}">
                      <a16:colId xmlns:a16="http://schemas.microsoft.com/office/drawing/2014/main" val="20001"/>
                    </a:ext>
                  </a:extLst>
                </a:gridCol>
              </a:tblGrid>
              <a:tr h="410210">
                <a:tc>
                  <a:txBody>
                    <a:bodyPr/>
                    <a:lstStyle/>
                    <a:p>
                      <a:pPr marL="0" indent="0">
                        <a:lnSpc>
                          <a:spcPts val="2100"/>
                        </a:lnSpc>
                        <a:buNone/>
                      </a:pPr>
                      <a:r>
                        <a:rPr lang="en-US" sz="1500" b="1" dirty="0">
                          <a:solidFill>
                            <a:srgbClr val="F4F6FF"/>
                          </a:solidFill>
                          <a:latin typeface="Nunito Sans" pitchFamily="34" charset="0"/>
                          <a:ea typeface="Nunito Sans" pitchFamily="34" charset="-122"/>
                          <a:cs typeface="Nunito Sans" pitchFamily="34" charset="-120"/>
                        </a:rPr>
                        <a:t>Part</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4E4F55"/>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4E4F55"/>
                      </a:solidFill>
                      <a:prstDash val="solid"/>
                      <a:round/>
                      <a:headEnd type="none" w="med" len="med"/>
                      <a:tailEnd type="none" w="med" len="med"/>
                    </a:lnB>
                    <a:solidFill>
                      <a:srgbClr val="1D1F28"/>
                    </a:solidFill>
                  </a:tcPr>
                </a:tc>
                <a:tc>
                  <a:txBody>
                    <a:bodyPr/>
                    <a:lstStyle/>
                    <a:p>
                      <a:pPr marL="0" indent="0">
                        <a:lnSpc>
                          <a:spcPts val="2100"/>
                        </a:lnSpc>
                        <a:buNone/>
                      </a:pPr>
                      <a:r>
                        <a:rPr lang="en-US" sz="1500" b="1" dirty="0">
                          <a:solidFill>
                            <a:srgbClr val="F4F6FF"/>
                          </a:solidFill>
                          <a:latin typeface="Nunito Sans" pitchFamily="34" charset="0"/>
                          <a:ea typeface="Nunito Sans" pitchFamily="34" charset="-122"/>
                          <a:cs typeface="Nunito Sans" pitchFamily="34" charset="-120"/>
                        </a:rPr>
                        <a:t>Source</a:t>
                      </a:r>
                      <a:endParaRPr lang="en-US" sz="1500" dirty="0">
                        <a:latin typeface="Nunito Sans" charset="0"/>
                        <a:ea typeface="Nunito Sans" charset="0"/>
                        <a:cs typeface="Nunito Sans" charset="0"/>
                      </a:endParaRPr>
                    </a:p>
                  </a:txBody>
                  <a:tcPr marL="66675" marR="66675" marT="66675" marB="66675">
                    <a:lnL w="12700" cap="flat" cmpd="sng" algn="ctr">
                      <a:solidFill>
                        <a:srgbClr val="4E4F55"/>
                      </a:solidFill>
                      <a:prstDash val="solid"/>
                      <a:round/>
                      <a:headEnd type="none" w="med" len="med"/>
                      <a:tailEnd type="none" w="med" len="med"/>
                    </a:lnL>
                    <a:lnR w="12700" cap="flat" cmpd="sng" algn="ctr">
                      <a:solidFill>
                        <a:srgbClr val="4E4F55"/>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4E4F55"/>
                      </a:solidFill>
                      <a:prstDash val="solid"/>
                      <a:round/>
                      <a:headEnd type="none" w="med" len="med"/>
                      <a:tailEnd type="none" w="med" len="med"/>
                    </a:lnB>
                    <a:solidFill>
                      <a:srgbClr val="1D1F28"/>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Idea, recipe and hardware</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4E4F55"/>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Isabela Teck, Design the Arduino device and my recipe</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4E4F55"/>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Code</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Claude (Anthropic)debugged and wrote some of the code</a:t>
                      </a:r>
                    </a:p>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Isabela wrote some of the code </a:t>
                      </a:r>
                    </a:p>
                    <a:p>
                      <a:pPr marL="0" indent="0">
                        <a:lnSpc>
                          <a:spcPts val="2100"/>
                        </a:lnSpc>
                        <a:buNone/>
                      </a:pPr>
                      <a:r>
                        <a:rPr lang="en-US" sz="1500" dirty="0">
                          <a:solidFill>
                            <a:srgbClr val="F4F6FF"/>
                          </a:solidFill>
                          <a:latin typeface="Nunito Sans" pitchFamily="34" charset="0"/>
                          <a:ea typeface="Nunito Sans" charset="0"/>
                          <a:cs typeface="Nunito Sans" charset="0"/>
                        </a:rPr>
                        <a:t>GitHub CoPilot help write some of the code and debugged</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Gesture and face models</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Google MediaPipe, open source</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Libraries</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tc>
                  <a:txBody>
                    <a:bodyPr/>
                    <a:lstStyle/>
                    <a:p>
                      <a:pPr marL="0" indent="0">
                        <a:lnSpc>
                          <a:spcPts val="2100"/>
                        </a:lnSpc>
                        <a:buNone/>
                      </a:pPr>
                      <a:r>
                        <a:rPr lang="en-US" sz="1500" dirty="0">
                          <a:solidFill>
                            <a:srgbClr val="F4F6FF"/>
                          </a:solidFill>
                          <a:latin typeface="Nunito Sans" pitchFamily="34" charset="0"/>
                          <a:ea typeface="Nunito Sans" pitchFamily="34" charset="-122"/>
                          <a:cs typeface="Nunito Sans" pitchFamily="34" charset="-120"/>
                        </a:rPr>
                        <a:t>OpenCV, pyserial, pywin32, Arduino LiquidCrystal</a:t>
                      </a:r>
                      <a:endParaRPr lang="en-US" sz="1500" dirty="0">
                        <a:latin typeface="Nunito Sans" charset="0"/>
                        <a:ea typeface="Nunito Sans" charset="0"/>
                        <a:cs typeface="Nunito Sans" charset="0"/>
                      </a:endParaRPr>
                    </a:p>
                  </a:txBody>
                  <a:tcPr marL="66675" marR="66675" marT="66675" marB="66675">
                    <a:lnL w="12700" cap="flat" cmpd="sng" algn="ctr">
                      <a:solidFill>
                        <a:srgbClr val="3F4047"/>
                      </a:solidFill>
                      <a:prstDash val="solid"/>
                      <a:round/>
                      <a:headEnd type="none" w="med" len="med"/>
                      <a:tailEnd type="none" w="med" len="med"/>
                    </a:lnL>
                    <a:lnR w="12700" cap="flat" cmpd="sng" algn="ctr">
                      <a:solidFill>
                        <a:srgbClr val="3F4047"/>
                      </a:solidFill>
                      <a:prstDash val="solid"/>
                      <a:round/>
                      <a:headEnd type="none" w="med" len="med"/>
                      <a:tailEnd type="none" w="med" len="med"/>
                    </a:lnR>
                    <a:lnT w="12700" cap="flat" cmpd="sng" algn="ctr">
                      <a:solidFill>
                        <a:srgbClr val="3F4047"/>
                      </a:solidFill>
                      <a:prstDash val="solid"/>
                      <a:round/>
                      <a:headEnd type="none" w="med" len="med"/>
                      <a:tailEnd type="none" w="med" len="med"/>
                    </a:lnT>
                    <a:lnB w="12700" cap="flat" cmpd="sng" algn="ctr">
                      <a:solidFill>
                        <a:srgbClr val="3F404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0"/>
                </a:solidFill>
                <a:latin typeface="Nunito Sans" pitchFamily="34" charset="0"/>
                <a:ea typeface="Nunito Sans" pitchFamily="34" charset="-122"/>
                <a:cs typeface="Nunito Sans" pitchFamily="34" charset="-120"/>
              </a:rPr>
              <a:t>Full credits and setup steps are in the README on GitHub</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C16"/>
        </a:solidFill>
        <a:effectLst/>
      </p:bgPr>
    </p:bg>
    <p:spTree>
      <p:nvGrpSpPr>
        <p:cNvPr id="1" name=""/>
        <p:cNvGrpSpPr/>
        <p:nvPr/>
      </p:nvGrpSpPr>
      <p:grpSpPr>
        <a:xfrm>
          <a:off x="0" y="0"/>
          <a:ext cx="0" cy="0"/>
          <a:chOff x="0" y="0"/>
          <a:chExt cx="0" cy="0"/>
        </a:xfrm>
      </p:grpSpPr>
      <p:sp>
        <p:nvSpPr>
          <p:cNvPr id="2" name="Text 0"/>
          <p:cNvSpPr/>
          <p:nvPr/>
        </p:nvSpPr>
        <p:spPr>
          <a:xfrm>
            <a:off x="812800" y="208407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200" dirty="0">
                <a:solidFill>
                  <a:srgbClr val="2DE2FF"/>
                </a:solidFill>
                <a:latin typeface="Nunito Sans" pitchFamily="34" charset="0"/>
                <a:ea typeface="Nunito Sans" pitchFamily="34" charset="-122"/>
                <a:cs typeface="Nunito Sans" pitchFamily="34" charset="-120"/>
              </a:rPr>
              <a:t>THANK YOU</a:t>
            </a:r>
            <a:endParaRPr lang="en-US" sz="1500" dirty="0"/>
          </a:p>
        </p:txBody>
      </p:sp>
      <p:sp>
        <p:nvSpPr>
          <p:cNvPr id="3" name="Text 1"/>
          <p:cNvSpPr>
            <a:spLocks noGrp="1"/>
          </p:cNvSpPr>
          <p:nvPr>
            <p:ph type="title"/>
          </p:nvPr>
        </p:nvSpPr>
        <p:spPr>
          <a:xfrm>
            <a:off x="812800" y="2604771"/>
            <a:ext cx="10883392" cy="77216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4F6FF"/>
                </a:solidFill>
                <a:latin typeface="Rubik" pitchFamily="34" charset="0"/>
                <a:ea typeface="Rubik" pitchFamily="34" charset="-122"/>
                <a:cs typeface="Rubik" pitchFamily="34" charset="-120"/>
              </a:rPr>
              <a:t>Questions?</a:t>
            </a:r>
            <a:endParaRPr lang="en-US" sz="5600" dirty="0"/>
          </a:p>
        </p:txBody>
      </p:sp>
      <p:sp>
        <p:nvSpPr>
          <p:cNvPr id="4" name="Text 2"/>
          <p:cNvSpPr/>
          <p:nvPr/>
        </p:nvSpPr>
        <p:spPr>
          <a:xfrm>
            <a:off x="812800" y="3605529"/>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8C2E0"/>
                </a:solidFill>
                <a:latin typeface="Nunito Sans" pitchFamily="34" charset="0"/>
                <a:ea typeface="Nunito Sans" pitchFamily="34" charset="-122"/>
                <a:cs typeface="Nunito Sans" pitchFamily="34" charset="-120"/>
              </a:rPr>
              <a:t>Code and README: https://github.com/Isabela5301/hands-free-recipe_assistant</a:t>
            </a:r>
            <a:endParaRPr lang="en-US" sz="2000" dirty="0"/>
          </a:p>
        </p:txBody>
      </p:sp>
      <p:sp>
        <p:nvSpPr>
          <p:cNvPr id="8" name="TextBox 7">
            <a:extLst>
              <a:ext uri="{FF2B5EF4-FFF2-40B4-BE49-F238E27FC236}">
                <a16:creationId xmlns:a16="http://schemas.microsoft.com/office/drawing/2014/main" id="{D965163F-C8CF-3D01-ECD4-440A94C80C90}"/>
              </a:ext>
            </a:extLst>
          </p:cNvPr>
          <p:cNvSpPr txBox="1"/>
          <p:nvPr/>
        </p:nvSpPr>
        <p:spPr>
          <a:xfrm>
            <a:off x="690466" y="4205797"/>
            <a:ext cx="8182947" cy="381000"/>
          </a:xfrm>
          <a:prstGeom prst="rect">
            <a:avLst/>
          </a:prstGeom>
          <a:noFill/>
        </p:spPr>
        <p:txBody>
          <a:bodyPr wrap="square" rtlCol="0">
            <a:spAutoFit/>
          </a:bodyPr>
          <a:lstStyle/>
          <a:p>
            <a:r>
              <a:rPr lang="en-US" dirty="0"/>
              <a:t>Demo </a:t>
            </a:r>
            <a:r>
              <a:rPr lang="en-US" dirty="0" err="1"/>
              <a:t>Youtube</a:t>
            </a:r>
            <a:r>
              <a:rPr lang="en-US" dirty="0"/>
              <a:t> Link: youtube.com/watch?v=AqSJ-2K7KCY&amp;feature=youtu.be</a:t>
            </a:r>
          </a:p>
        </p:txBody>
      </p:sp>
    </p:spTree>
  </p:cSld>
  <p:clrMapOvr>
    <a:masterClrMapping/>
  </p:clrMapOvr>
</p:sld>
</file>

<file path=ppt/theme/theme1.xml><?xml version="1.0" encoding="utf-8"?>
<a:theme xmlns:a="http://schemas.openxmlformats.org/drawingml/2006/main" name="Hands-Free Recipe Assistan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Hands-Free Recipe Assistant">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926</Words>
  <Application>Microsoft Office PowerPoint</Application>
  <PresentationFormat>Widescreen</PresentationFormat>
  <Paragraphs>104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Nunito Sans</vt:lpstr>
      <vt:lpstr>Rubik</vt:lpstr>
      <vt:lpstr>Hands-Free Recipe Assistant</vt:lpstr>
      <vt:lpstr>Hands-Free Recipe Assistant</vt:lpstr>
      <vt:lpstr>Cooking leaves your hands busy and sometime messy</vt:lpstr>
      <vt:lpstr>With video or web camera, we can make recipe be less a mess with reading it out loud to you</vt:lpstr>
      <vt:lpstr>From camera to kitchen in four steps</vt:lpstr>
      <vt:lpstr>Six simple hand signals</vt:lpstr>
      <vt:lpstr>Look at the camera to swipe</vt:lpstr>
      <vt:lpstr>A real kitchen display, built for $0</vt:lpstr>
      <vt:lpstr>Let's cook.</vt:lpstr>
      <vt:lpstr>Who built what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Hands-Free Recipe Assistant</dc:title>
  <dc:subject/>
  <dc:creator>Isabela Teck</dc:creator>
  <cp:lastModifiedBy>Isabela Teck</cp:lastModifiedBy>
  <cp:revision>2</cp:revision>
  <dcterms:created xsi:type="dcterms:W3CDTF">2026-10-11T19:30:33Z</dcterms:created>
  <dcterms:modified xsi:type="dcterms:W3CDTF">2026-10-11T19:55:02Z</dcterms:modified>
</cp:coreProperties>
</file>